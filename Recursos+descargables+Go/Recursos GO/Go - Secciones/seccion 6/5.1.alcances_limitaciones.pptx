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C0FD70E-8300-4769-8049-D98C8AAAB9B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3F30ED-99C5-4829-9579-B6ABE060283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000" cy="115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48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000" cy="46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4D6D3FF-1936-439E-83DA-70434F1CF91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240" cy="56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240" cy="411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240" cy="80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3D757CB-45F9-4BB2-BBE3-A0DA7F33835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240" cy="146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990136-60E7-44F7-BBF8-35ECD5FE405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351AFC-43A0-47DB-8464-89CE60EF975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240" cy="584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7760" cy="584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2BE7AE-CEC5-4DB7-982E-B7EC84CE54B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B8E8A7-FD1D-4EFF-98E1-B280F6DC48C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240" cy="136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240" cy="149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E489567-6622-49DC-988F-14092C24FD2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6320" cy="452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6320" cy="452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66B926-236F-411D-8E19-B062A355072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120" cy="63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120" cy="394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560" cy="63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560" cy="394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0D62B4-E988-428E-A6AA-1FD4BEABBB7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n 20" descr=""/>
          <p:cNvPicPr/>
          <p:nvPr/>
        </p:nvPicPr>
        <p:blipFill>
          <a:blip r:embed="rId1"/>
          <a:stretch/>
        </p:blipFill>
        <p:spPr>
          <a:xfrm>
            <a:off x="14083920" y="8749440"/>
            <a:ext cx="3172680" cy="5630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8" name="Grupo 3"/>
          <p:cNvGrpSpPr/>
          <p:nvPr/>
        </p:nvGrpSpPr>
        <p:grpSpPr>
          <a:xfrm>
            <a:off x="14654520" y="0"/>
            <a:ext cx="3631320" cy="2093400"/>
            <a:chOff x="14654520" y="0"/>
            <a:chExt cx="3631320" cy="2093400"/>
          </a:xfrm>
        </p:grpSpPr>
        <p:sp>
          <p:nvSpPr>
            <p:cNvPr id="59" name="object 6"/>
            <p:cNvSpPr/>
            <p:nvPr/>
          </p:nvSpPr>
          <p:spPr>
            <a:xfrm>
              <a:off x="17600040" y="0"/>
              <a:ext cx="685800" cy="685800"/>
            </a:xfrm>
            <a:custGeom>
              <a:avLst/>
              <a:gdLst>
                <a:gd name="textAreaLeft" fmla="*/ 0 w 685800"/>
                <a:gd name="textAreaRight" fmla="*/ 687960 w 685800"/>
                <a:gd name="textAreaTop" fmla="*/ 0 h 685800"/>
                <a:gd name="textAreaBottom" fmla="*/ 687960 h 68580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0" name="object 7"/>
            <p:cNvSpPr/>
            <p:nvPr/>
          </p:nvSpPr>
          <p:spPr>
            <a:xfrm>
              <a:off x="16127280" y="0"/>
              <a:ext cx="685800" cy="685800"/>
            </a:xfrm>
            <a:custGeom>
              <a:avLst/>
              <a:gdLst>
                <a:gd name="textAreaLeft" fmla="*/ 0 w 685800"/>
                <a:gd name="textAreaRight" fmla="*/ 687960 w 685800"/>
                <a:gd name="textAreaTop" fmla="*/ 0 h 685800"/>
                <a:gd name="textAreaBottom" fmla="*/ 687960 h 68580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1" name="object 8"/>
            <p:cNvSpPr/>
            <p:nvPr/>
          </p:nvSpPr>
          <p:spPr>
            <a:xfrm>
              <a:off x="14654520" y="0"/>
              <a:ext cx="685800" cy="685800"/>
            </a:xfrm>
            <a:custGeom>
              <a:avLst/>
              <a:gdLst>
                <a:gd name="textAreaLeft" fmla="*/ 0 w 685800"/>
                <a:gd name="textAreaRight" fmla="*/ 687960 w 685800"/>
                <a:gd name="textAreaTop" fmla="*/ 0 h 685800"/>
                <a:gd name="textAreaBottom" fmla="*/ 687960 h 68580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2" name="object 9"/>
            <p:cNvSpPr/>
            <p:nvPr/>
          </p:nvSpPr>
          <p:spPr>
            <a:xfrm>
              <a:off x="15459840" y="909720"/>
              <a:ext cx="548280" cy="548280"/>
            </a:xfrm>
            <a:custGeom>
              <a:avLst/>
              <a:gdLst>
                <a:gd name="textAreaLeft" fmla="*/ 0 w 548280"/>
                <a:gd name="textAreaRight" fmla="*/ 550440 w 548280"/>
                <a:gd name="textAreaTop" fmla="*/ 0 h 548280"/>
                <a:gd name="textAreaBottom" fmla="*/ 550440 h 54828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3" name="object 10"/>
            <p:cNvSpPr/>
            <p:nvPr/>
          </p:nvSpPr>
          <p:spPr>
            <a:xfrm>
              <a:off x="16932600" y="909720"/>
              <a:ext cx="548280" cy="548280"/>
            </a:xfrm>
            <a:custGeom>
              <a:avLst/>
              <a:gdLst>
                <a:gd name="textAreaLeft" fmla="*/ 0 w 548280"/>
                <a:gd name="textAreaRight" fmla="*/ 550440 w 548280"/>
                <a:gd name="textAreaTop" fmla="*/ 0 h 548280"/>
                <a:gd name="textAreaBottom" fmla="*/ 550440 h 54828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4" name="object 11"/>
            <p:cNvSpPr/>
            <p:nvPr/>
          </p:nvSpPr>
          <p:spPr>
            <a:xfrm>
              <a:off x="16264800" y="1682280"/>
              <a:ext cx="411120" cy="411120"/>
            </a:xfrm>
            <a:custGeom>
              <a:avLst/>
              <a:gdLst>
                <a:gd name="textAreaLeft" fmla="*/ 0 w 411120"/>
                <a:gd name="textAreaRight" fmla="*/ 413280 w 411120"/>
                <a:gd name="textAreaTop" fmla="*/ 0 h 411120"/>
                <a:gd name="textAreaBottom" fmla="*/ 413280 h 411120"/>
              </a:gdLst>
              <a:ahLst/>
              <a:cxnLst/>
              <a:rect l="textAreaLeft" t="textAreaTop" r="textAreaRight" b="textAreaBottom"/>
              <a:pathLst>
                <a:path w="213995" h="213994">
                  <a:moveTo>
                    <a:pt x="213588" y="0"/>
                  </a:moveTo>
                  <a:lnTo>
                    <a:pt x="0" y="0"/>
                  </a:lnTo>
                  <a:lnTo>
                    <a:pt x="0" y="213601"/>
                  </a:lnTo>
                  <a:lnTo>
                    <a:pt x="213588" y="213601"/>
                  </a:lnTo>
                  <a:lnTo>
                    <a:pt x="213588" y="0"/>
                  </a:lnTo>
                  <a:close/>
                </a:path>
              </a:pathLst>
            </a:custGeom>
            <a:solidFill>
              <a:srgbClr val="60cdde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65" name="Grupo 15"/>
          <p:cNvGrpSpPr/>
          <p:nvPr/>
        </p:nvGrpSpPr>
        <p:grpSpPr>
          <a:xfrm>
            <a:off x="1028520" y="8749440"/>
            <a:ext cx="16228440" cy="563040"/>
            <a:chOff x="1028520" y="8749440"/>
            <a:chExt cx="16228440" cy="563040"/>
          </a:xfrm>
        </p:grpSpPr>
        <p:pic>
          <p:nvPicPr>
            <p:cNvPr id="66" name="Imagen 17" descr=""/>
            <p:cNvPicPr/>
            <p:nvPr/>
          </p:nvPicPr>
          <p:blipFill>
            <a:blip r:embed="rId2"/>
            <a:stretch/>
          </p:blipFill>
          <p:spPr>
            <a:xfrm>
              <a:off x="1028520" y="8749440"/>
              <a:ext cx="563040" cy="5630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7" name="TextBox 7"/>
            <p:cNvSpPr/>
            <p:nvPr/>
          </p:nvSpPr>
          <p:spPr>
            <a:xfrm>
              <a:off x="1028520" y="8807400"/>
              <a:ext cx="16228440" cy="450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01"/>
                </a:lnSpc>
              </a:pPr>
              <a:r>
                <a:rPr b="0" lang="en-US" sz="2500" strike="noStrike" u="none">
                  <a:solidFill>
                    <a:srgbClr val="1dd0e1"/>
                  </a:solidFill>
                  <a:effectLst/>
                  <a:uFillTx/>
                  <a:latin typeface="Baloo 2"/>
                </a:rPr>
                <a:t>           @DataBoosters</a:t>
              </a:r>
              <a:endParaRPr b="0" lang="en-US" sz="2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" name="Grupo 4"/>
          <p:cNvGrpSpPr/>
          <p:nvPr/>
        </p:nvGrpSpPr>
        <p:grpSpPr>
          <a:xfrm>
            <a:off x="1028880" y="3284640"/>
            <a:ext cx="16228440" cy="3712680"/>
            <a:chOff x="1028880" y="3284640"/>
            <a:chExt cx="16228440" cy="3712680"/>
          </a:xfrm>
        </p:grpSpPr>
        <p:sp>
          <p:nvSpPr>
            <p:cNvPr id="69" name="TextBox 4"/>
            <p:cNvSpPr/>
            <p:nvPr/>
          </p:nvSpPr>
          <p:spPr>
            <a:xfrm>
              <a:off x="1028880" y="3284640"/>
              <a:ext cx="16228440" cy="219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b="1" lang="es-MX" sz="8400" strike="noStrike" u="none">
                  <a:solidFill>
                    <a:schemeClr val="lt1"/>
                  </a:solidFill>
                  <a:effectLst/>
                  <a:uFillTx/>
                  <a:latin typeface="Baloo 2"/>
                </a:rPr>
                <a:t>Visualización de datos con go</a:t>
              </a:r>
              <a:endParaRPr b="0" lang="en-US" sz="8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b="1" lang="es-MX" sz="4200" strike="noStrike" u="none">
                  <a:solidFill>
                    <a:schemeClr val="lt1"/>
                  </a:solidFill>
                  <a:effectLst/>
                  <a:uFillTx/>
                  <a:latin typeface="Baloo 2"/>
                </a:rPr>
                <a:t>Alcances y limitaciones</a:t>
              </a:r>
              <a:endParaRPr b="0" lang="en-US" sz="4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TextBox 5"/>
            <p:cNvSpPr/>
            <p:nvPr/>
          </p:nvSpPr>
          <p:spPr>
            <a:xfrm>
              <a:off x="1028880" y="6502320"/>
              <a:ext cx="16228440" cy="49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900"/>
                </a:lnSpc>
              </a:pPr>
              <a:r>
                <a:rPr b="1" lang="en-US" sz="3000" spc="60" strike="noStrike" u="none">
                  <a:solidFill>
                    <a:srgbClr val="1dd0e1"/>
                  </a:solidFill>
                  <a:effectLst/>
                  <a:uFillTx/>
                  <a:latin typeface="Baloo 2"/>
                </a:rPr>
                <a:t>Go</a:t>
              </a:r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Imagen 20" descr=""/>
          <p:cNvPicPr/>
          <p:nvPr/>
        </p:nvPicPr>
        <p:blipFill>
          <a:blip r:embed="rId1"/>
          <a:stretch/>
        </p:blipFill>
        <p:spPr>
          <a:xfrm>
            <a:off x="14083920" y="8749440"/>
            <a:ext cx="3172680" cy="5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Box 3"/>
          <p:cNvSpPr/>
          <p:nvPr/>
        </p:nvSpPr>
        <p:spPr>
          <a:xfrm>
            <a:off x="1031760" y="1067040"/>
            <a:ext cx="165693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5000" strike="noStrike" u="none">
                <a:solidFill>
                  <a:srgbClr val="ffffff"/>
                </a:solidFill>
                <a:effectLst/>
                <a:uFillTx/>
                <a:latin typeface="Baloo 2"/>
              </a:rPr>
              <a:t>¿Por qué visualizar datos en go?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3" name="Grupo 3"/>
          <p:cNvGrpSpPr/>
          <p:nvPr/>
        </p:nvGrpSpPr>
        <p:grpSpPr>
          <a:xfrm>
            <a:off x="14654520" y="0"/>
            <a:ext cx="3631320" cy="2093400"/>
            <a:chOff x="14654520" y="0"/>
            <a:chExt cx="3631320" cy="2093400"/>
          </a:xfrm>
        </p:grpSpPr>
        <p:sp>
          <p:nvSpPr>
            <p:cNvPr id="74" name="object 6"/>
            <p:cNvSpPr/>
            <p:nvPr/>
          </p:nvSpPr>
          <p:spPr>
            <a:xfrm>
              <a:off x="17600040" y="0"/>
              <a:ext cx="685800" cy="685800"/>
            </a:xfrm>
            <a:custGeom>
              <a:avLst/>
              <a:gdLst>
                <a:gd name="textAreaLeft" fmla="*/ 0 w 685800"/>
                <a:gd name="textAreaRight" fmla="*/ 687960 w 685800"/>
                <a:gd name="textAreaTop" fmla="*/ 0 h 685800"/>
                <a:gd name="textAreaBottom" fmla="*/ 687960 h 68580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5" name="object 7"/>
            <p:cNvSpPr/>
            <p:nvPr/>
          </p:nvSpPr>
          <p:spPr>
            <a:xfrm>
              <a:off x="16127280" y="0"/>
              <a:ext cx="685800" cy="685800"/>
            </a:xfrm>
            <a:custGeom>
              <a:avLst/>
              <a:gdLst>
                <a:gd name="textAreaLeft" fmla="*/ 0 w 685800"/>
                <a:gd name="textAreaRight" fmla="*/ 687960 w 685800"/>
                <a:gd name="textAreaTop" fmla="*/ 0 h 685800"/>
                <a:gd name="textAreaBottom" fmla="*/ 687960 h 68580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6" name="object 8"/>
            <p:cNvSpPr/>
            <p:nvPr/>
          </p:nvSpPr>
          <p:spPr>
            <a:xfrm>
              <a:off x="14654520" y="0"/>
              <a:ext cx="685800" cy="685800"/>
            </a:xfrm>
            <a:custGeom>
              <a:avLst/>
              <a:gdLst>
                <a:gd name="textAreaLeft" fmla="*/ 0 w 685800"/>
                <a:gd name="textAreaRight" fmla="*/ 687960 w 685800"/>
                <a:gd name="textAreaTop" fmla="*/ 0 h 685800"/>
                <a:gd name="textAreaBottom" fmla="*/ 687960 h 68580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7" name="object 9"/>
            <p:cNvSpPr/>
            <p:nvPr/>
          </p:nvSpPr>
          <p:spPr>
            <a:xfrm>
              <a:off x="15459840" y="909720"/>
              <a:ext cx="548280" cy="548280"/>
            </a:xfrm>
            <a:custGeom>
              <a:avLst/>
              <a:gdLst>
                <a:gd name="textAreaLeft" fmla="*/ 0 w 548280"/>
                <a:gd name="textAreaRight" fmla="*/ 550440 w 548280"/>
                <a:gd name="textAreaTop" fmla="*/ 0 h 548280"/>
                <a:gd name="textAreaBottom" fmla="*/ 550440 h 54828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8" name="object 10"/>
            <p:cNvSpPr/>
            <p:nvPr/>
          </p:nvSpPr>
          <p:spPr>
            <a:xfrm>
              <a:off x="16932600" y="909720"/>
              <a:ext cx="548280" cy="548280"/>
            </a:xfrm>
            <a:custGeom>
              <a:avLst/>
              <a:gdLst>
                <a:gd name="textAreaLeft" fmla="*/ 0 w 548280"/>
                <a:gd name="textAreaRight" fmla="*/ 550440 w 548280"/>
                <a:gd name="textAreaTop" fmla="*/ 0 h 548280"/>
                <a:gd name="textAreaBottom" fmla="*/ 550440 h 54828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9" name="object 11"/>
            <p:cNvSpPr/>
            <p:nvPr/>
          </p:nvSpPr>
          <p:spPr>
            <a:xfrm>
              <a:off x="16264800" y="1682280"/>
              <a:ext cx="411120" cy="411120"/>
            </a:xfrm>
            <a:custGeom>
              <a:avLst/>
              <a:gdLst>
                <a:gd name="textAreaLeft" fmla="*/ 0 w 411120"/>
                <a:gd name="textAreaRight" fmla="*/ 413280 w 411120"/>
                <a:gd name="textAreaTop" fmla="*/ 0 h 411120"/>
                <a:gd name="textAreaBottom" fmla="*/ 413280 h 411120"/>
              </a:gdLst>
              <a:ahLst/>
              <a:cxnLst/>
              <a:rect l="textAreaLeft" t="textAreaTop" r="textAreaRight" b="textAreaBottom"/>
              <a:pathLst>
                <a:path w="213995" h="213994">
                  <a:moveTo>
                    <a:pt x="213588" y="0"/>
                  </a:moveTo>
                  <a:lnTo>
                    <a:pt x="0" y="0"/>
                  </a:lnTo>
                  <a:lnTo>
                    <a:pt x="0" y="213601"/>
                  </a:lnTo>
                  <a:lnTo>
                    <a:pt x="213588" y="213601"/>
                  </a:lnTo>
                  <a:lnTo>
                    <a:pt x="213588" y="0"/>
                  </a:lnTo>
                  <a:close/>
                </a:path>
              </a:pathLst>
            </a:custGeom>
            <a:solidFill>
              <a:srgbClr val="60cdde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80" name="Grupo 15"/>
          <p:cNvGrpSpPr/>
          <p:nvPr/>
        </p:nvGrpSpPr>
        <p:grpSpPr>
          <a:xfrm>
            <a:off x="1028520" y="8749440"/>
            <a:ext cx="16228440" cy="563040"/>
            <a:chOff x="1028520" y="8749440"/>
            <a:chExt cx="16228440" cy="563040"/>
          </a:xfrm>
        </p:grpSpPr>
        <p:pic>
          <p:nvPicPr>
            <p:cNvPr id="81" name="Imagen 17" descr=""/>
            <p:cNvPicPr/>
            <p:nvPr/>
          </p:nvPicPr>
          <p:blipFill>
            <a:blip r:embed="rId2"/>
            <a:stretch/>
          </p:blipFill>
          <p:spPr>
            <a:xfrm>
              <a:off x="1028520" y="8749440"/>
              <a:ext cx="563040" cy="5630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2" name="TextBox 7"/>
            <p:cNvSpPr/>
            <p:nvPr/>
          </p:nvSpPr>
          <p:spPr>
            <a:xfrm>
              <a:off x="1028520" y="8807400"/>
              <a:ext cx="16228440" cy="450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01"/>
                </a:lnSpc>
              </a:pPr>
              <a:r>
                <a:rPr b="0" lang="en-US" sz="2500" strike="noStrike" u="none">
                  <a:solidFill>
                    <a:srgbClr val="1dd0e1"/>
                  </a:solidFill>
                  <a:effectLst/>
                  <a:uFillTx/>
                  <a:latin typeface="Baloo 2"/>
                </a:rPr>
                <a:t>           @DataBoosters</a:t>
              </a:r>
              <a:endParaRPr b="0" lang="en-US" sz="2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Google Shape;55;p13"/>
          <p:cNvSpPr/>
          <p:nvPr/>
        </p:nvSpPr>
        <p:spPr>
          <a:xfrm>
            <a:off x="1143000" y="2057400"/>
            <a:ext cx="15314400" cy="49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182880" anchor="t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3000" strike="noStrike" u="none">
                <a:solidFill>
                  <a:schemeClr val="lt1"/>
                </a:solidFill>
                <a:effectLst/>
                <a:uFillTx/>
                <a:latin typeface="Baloo 2"/>
              </a:rPr>
              <a:t>Go es muy bueno para procesamiento, rendimiento y concurrencia.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3000" strike="noStrike" u="none">
                <a:solidFill>
                  <a:schemeClr val="lt1"/>
                </a:solidFill>
                <a:effectLst/>
                <a:uFillTx/>
                <a:latin typeface="Baloo 2"/>
              </a:rPr>
              <a:t>Pero su ecosistema de librerías de gráficos es más limitado que en Python o R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Generar gráficos simples (PNG, SVG),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Crear gráficos en consola para prototipos rápidos,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Exportar datos y visualizarlos en otras herramientas.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200"/>
              </a:spcAft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Imagen 5" descr=""/>
          <p:cNvPicPr/>
          <p:nvPr/>
        </p:nvPicPr>
        <p:blipFill>
          <a:blip r:embed="rId1"/>
          <a:stretch/>
        </p:blipFill>
        <p:spPr>
          <a:xfrm>
            <a:off x="14083920" y="8749440"/>
            <a:ext cx="3172680" cy="5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Box 9"/>
          <p:cNvSpPr/>
          <p:nvPr/>
        </p:nvSpPr>
        <p:spPr>
          <a:xfrm>
            <a:off x="803160" y="609840"/>
            <a:ext cx="165693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5000" strike="noStrike" u="none">
                <a:solidFill>
                  <a:srgbClr val="ffffff"/>
                </a:solidFill>
                <a:effectLst/>
                <a:uFillTx/>
                <a:latin typeface="Baloo 2"/>
              </a:rPr>
              <a:t>Opciones para hacer gráficos con go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upo 7"/>
          <p:cNvGrpSpPr/>
          <p:nvPr/>
        </p:nvGrpSpPr>
        <p:grpSpPr>
          <a:xfrm>
            <a:off x="14654520" y="0"/>
            <a:ext cx="3631320" cy="2093400"/>
            <a:chOff x="14654520" y="0"/>
            <a:chExt cx="3631320" cy="2093400"/>
          </a:xfrm>
        </p:grpSpPr>
        <p:sp>
          <p:nvSpPr>
            <p:cNvPr id="87" name="object 19"/>
            <p:cNvSpPr/>
            <p:nvPr/>
          </p:nvSpPr>
          <p:spPr>
            <a:xfrm>
              <a:off x="17600040" y="0"/>
              <a:ext cx="685800" cy="685800"/>
            </a:xfrm>
            <a:custGeom>
              <a:avLst/>
              <a:gdLst>
                <a:gd name="textAreaLeft" fmla="*/ 0 w 685800"/>
                <a:gd name="textAreaRight" fmla="*/ 687960 w 685800"/>
                <a:gd name="textAreaTop" fmla="*/ 0 h 685800"/>
                <a:gd name="textAreaBottom" fmla="*/ 687960 h 68580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8" name="object 20"/>
            <p:cNvSpPr/>
            <p:nvPr/>
          </p:nvSpPr>
          <p:spPr>
            <a:xfrm>
              <a:off x="16127280" y="0"/>
              <a:ext cx="685800" cy="685800"/>
            </a:xfrm>
            <a:custGeom>
              <a:avLst/>
              <a:gdLst>
                <a:gd name="textAreaLeft" fmla="*/ 0 w 685800"/>
                <a:gd name="textAreaRight" fmla="*/ 687960 w 685800"/>
                <a:gd name="textAreaTop" fmla="*/ 0 h 685800"/>
                <a:gd name="textAreaBottom" fmla="*/ 687960 h 68580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9" name="object 21"/>
            <p:cNvSpPr/>
            <p:nvPr/>
          </p:nvSpPr>
          <p:spPr>
            <a:xfrm>
              <a:off x="14654520" y="0"/>
              <a:ext cx="685800" cy="685800"/>
            </a:xfrm>
            <a:custGeom>
              <a:avLst/>
              <a:gdLst>
                <a:gd name="textAreaLeft" fmla="*/ 0 w 685800"/>
                <a:gd name="textAreaRight" fmla="*/ 687960 w 685800"/>
                <a:gd name="textAreaTop" fmla="*/ 0 h 685800"/>
                <a:gd name="textAreaBottom" fmla="*/ 687960 h 68580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0" name="object 22"/>
            <p:cNvSpPr/>
            <p:nvPr/>
          </p:nvSpPr>
          <p:spPr>
            <a:xfrm>
              <a:off x="15459840" y="909720"/>
              <a:ext cx="548280" cy="548280"/>
            </a:xfrm>
            <a:custGeom>
              <a:avLst/>
              <a:gdLst>
                <a:gd name="textAreaLeft" fmla="*/ 0 w 548280"/>
                <a:gd name="textAreaRight" fmla="*/ 550440 w 548280"/>
                <a:gd name="textAreaTop" fmla="*/ 0 h 548280"/>
                <a:gd name="textAreaBottom" fmla="*/ 550440 h 54828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1" name="object 23"/>
            <p:cNvSpPr/>
            <p:nvPr/>
          </p:nvSpPr>
          <p:spPr>
            <a:xfrm>
              <a:off x="16932600" y="909720"/>
              <a:ext cx="548280" cy="548280"/>
            </a:xfrm>
            <a:custGeom>
              <a:avLst/>
              <a:gdLst>
                <a:gd name="textAreaLeft" fmla="*/ 0 w 548280"/>
                <a:gd name="textAreaRight" fmla="*/ 550440 w 548280"/>
                <a:gd name="textAreaTop" fmla="*/ 0 h 548280"/>
                <a:gd name="textAreaBottom" fmla="*/ 550440 h 54828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2" name="object 24"/>
            <p:cNvSpPr/>
            <p:nvPr/>
          </p:nvSpPr>
          <p:spPr>
            <a:xfrm>
              <a:off x="16264800" y="1682280"/>
              <a:ext cx="411120" cy="411120"/>
            </a:xfrm>
            <a:custGeom>
              <a:avLst/>
              <a:gdLst>
                <a:gd name="textAreaLeft" fmla="*/ 0 w 411120"/>
                <a:gd name="textAreaRight" fmla="*/ 413280 w 411120"/>
                <a:gd name="textAreaTop" fmla="*/ 0 h 411120"/>
                <a:gd name="textAreaBottom" fmla="*/ 413280 h 411120"/>
              </a:gdLst>
              <a:ahLst/>
              <a:cxnLst/>
              <a:rect l="textAreaLeft" t="textAreaTop" r="textAreaRight" b="textAreaBottom"/>
              <a:pathLst>
                <a:path w="213995" h="213994">
                  <a:moveTo>
                    <a:pt x="213588" y="0"/>
                  </a:moveTo>
                  <a:lnTo>
                    <a:pt x="0" y="0"/>
                  </a:lnTo>
                  <a:lnTo>
                    <a:pt x="0" y="213601"/>
                  </a:lnTo>
                  <a:lnTo>
                    <a:pt x="213588" y="213601"/>
                  </a:lnTo>
                  <a:lnTo>
                    <a:pt x="213588" y="0"/>
                  </a:lnTo>
                  <a:close/>
                </a:path>
              </a:pathLst>
            </a:custGeom>
            <a:solidFill>
              <a:srgbClr val="60cdde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93" name="Grupo 8"/>
          <p:cNvGrpSpPr/>
          <p:nvPr/>
        </p:nvGrpSpPr>
        <p:grpSpPr>
          <a:xfrm>
            <a:off x="914400" y="9144000"/>
            <a:ext cx="16228440" cy="563040"/>
            <a:chOff x="914400" y="9144000"/>
            <a:chExt cx="16228440" cy="563040"/>
          </a:xfrm>
        </p:grpSpPr>
        <p:pic>
          <p:nvPicPr>
            <p:cNvPr id="94" name="Imagen 6" descr=""/>
            <p:cNvPicPr/>
            <p:nvPr/>
          </p:nvPicPr>
          <p:blipFill>
            <a:blip r:embed="rId2"/>
            <a:stretch/>
          </p:blipFill>
          <p:spPr>
            <a:xfrm>
              <a:off x="914400" y="9144000"/>
              <a:ext cx="563040" cy="5630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5" name="TextBox 10"/>
            <p:cNvSpPr/>
            <p:nvPr/>
          </p:nvSpPr>
          <p:spPr>
            <a:xfrm>
              <a:off x="914400" y="9201960"/>
              <a:ext cx="16228440" cy="44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01"/>
                </a:lnSpc>
              </a:pPr>
              <a:r>
                <a:rPr b="0" lang="en-US" sz="2500" strike="noStrike" u="none">
                  <a:solidFill>
                    <a:srgbClr val="1dd0e1"/>
                  </a:solidFill>
                  <a:effectLst/>
                  <a:uFillTx/>
                  <a:latin typeface="Baloo 2"/>
                </a:rPr>
                <a:t>           @DataBoosters</a:t>
              </a:r>
              <a:endParaRPr b="0" lang="en-US" sz="2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6" name="Google Shape;55;p 3"/>
          <p:cNvSpPr/>
          <p:nvPr/>
        </p:nvSpPr>
        <p:spPr>
          <a:xfrm>
            <a:off x="687240" y="2057400"/>
            <a:ext cx="15314400" cy="49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182880" anchor="t">
            <a:noAutofit/>
          </a:bodyPr>
          <a:p>
            <a:pPr defTabSz="914400">
              <a:lnSpc>
                <a:spcPct val="100000"/>
              </a:lnSpc>
              <a:spcAft>
                <a:spcPts val="3200"/>
              </a:spcAft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Gráficos en consola con asciigraph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Gráficos estadísticos con gonum/plot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Dashboards con go-echarts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200"/>
              </a:spcAft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104168</TotalTime>
  <Application>LibreOffice/25.2.4.3$Linux_X86_64 LibreOffice_project/520$Build-3</Application>
  <AppVersion>15.0000</AppVersion>
  <Words>1207</Words>
  <Paragraphs>172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DAFnVuib1PQ</dc:identifier>
  <dc:language>en-US</dc:language>
  <cp:lastModifiedBy/>
  <cp:lastPrinted>2025-07-02T14:32:52Z</cp:lastPrinted>
  <dcterms:modified xsi:type="dcterms:W3CDTF">2025-07-05T21:32:10Z</dcterms:modified>
  <cp:revision>30</cp:revision>
  <dc:subject/>
  <dc:title>@DataBoosters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Notes">
    <vt:i4>1</vt:i4>
  </property>
  <property fmtid="{D5CDD505-2E9C-101B-9397-08002B2CF9AE}" pid="4" name="PresentationFormat">
    <vt:lpwstr>Personalizado</vt:lpwstr>
  </property>
  <property fmtid="{D5CDD505-2E9C-101B-9397-08002B2CF9AE}" pid="5" name="Slides">
    <vt:i4>28</vt:i4>
  </property>
</Properties>
</file>